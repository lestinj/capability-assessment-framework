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8488" y="1310729"/>
            <a:ext cx="33668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XENON ENTERPRISE CONSULTING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328845" y="1802160"/>
            <a:ext cx="64863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Capability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611898" y="2449860"/>
            <a:ext cx="39202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2100"/>
              </a:spcAft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Enterprise Architecture Assessments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56917" y="3108871"/>
            <a:ext cx="263001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Cost Reduction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315664" y="3672632"/>
            <a:ext cx="25126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real Virginia state agency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Assessments Are Broken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758404"/>
            <a:ext cx="3775323" cy="809476"/>
          </a:xfrm>
          <a:prstGeom prst="roundRect">
            <a:avLst>
              <a:gd name="adj" fmla="val 94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758404"/>
            <a:ext cx="0" cy="80947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910804"/>
            <a:ext cx="35010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- $750K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300" y="2268885"/>
            <a:ext cx="35010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assessment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04800" y="2682180"/>
            <a:ext cx="3775323" cy="809476"/>
          </a:xfrm>
          <a:prstGeom prst="roundRect">
            <a:avLst>
              <a:gd name="adj" fmla="val 94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682180"/>
            <a:ext cx="0" cy="80947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" y="2834580"/>
            <a:ext cx="35010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Months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300" y="3192661"/>
            <a:ext cx="35010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to completion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4800" y="3605957"/>
            <a:ext cx="3775323" cy="809476"/>
          </a:xfrm>
          <a:prstGeom prst="roundRect">
            <a:avLst>
              <a:gd name="adj" fmla="val 94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3605957"/>
            <a:ext cx="0" cy="80947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300" y="3758357"/>
            <a:ext cx="35010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Senior FTEs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300" y="4116437"/>
            <a:ext cx="35010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TOGAF architects required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308723" y="2231678"/>
            <a:ext cx="4530477" cy="883890"/>
          </a:xfrm>
          <a:prstGeom prst="roundRect">
            <a:avLst>
              <a:gd name="adj" fmla="val 862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61123" y="2384078"/>
            <a:ext cx="43101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61123" y="2620268"/>
            <a:ext cx="43101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 are prerequisites for IT modernization. Without them, agencies cannot make data-driven decisions.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08723" y="3229868"/>
            <a:ext cx="4530477" cy="712440"/>
          </a:xfrm>
          <a:prstGeom prst="roundRect">
            <a:avLst>
              <a:gd name="adj" fmla="val 1069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61123" y="3382268"/>
            <a:ext cx="43101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IMPACT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61123" y="3618458"/>
            <a:ext cx="43101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state agencies managing $2.1B in IT spending need periodic assessments.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Know This Firsthand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VDOT HMMS Assessment — Real Engagement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964085"/>
            <a:ext cx="4152900" cy="630436"/>
          </a:xfrm>
          <a:prstGeom prst="roundRect">
            <a:avLst>
              <a:gd name="adj" fmla="val 1208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209743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38150" y="230118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served as co-author on VDOT HMMS assessment (June 2025)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4800" y="2708821"/>
            <a:ext cx="2038350" cy="674340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1003" y="2823121"/>
            <a:ext cx="18459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01003" y="3135511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19350" y="2708821"/>
            <a:ext cx="2038350" cy="674340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15553" y="2823121"/>
            <a:ext cx="18459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515553" y="3135511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4800" y="3497461"/>
            <a:ext cx="2038350" cy="674340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1003" y="3611761"/>
            <a:ext cx="18459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4,650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01003" y="3924151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19350" y="3497461"/>
            <a:ext cx="2038350" cy="674340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15553" y="3611761"/>
            <a:ext cx="18459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$717K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515553" y="3924151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Cost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86300" y="1952625"/>
            <a:ext cx="423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6300" y="2207865"/>
            <a:ext cx="41529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115+ page comprehensive report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capabilities assessed against CMM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findings across 5 themes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actionable recommendations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ticket analysis (421 tickets)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86300" y="3789015"/>
            <a:ext cx="4152900" cy="394246"/>
          </a:xfrm>
          <a:prstGeom prst="roundRect">
            <a:avLst>
              <a:gd name="adj" fmla="val 1449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3912840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Authors: Richter, DiNatale, Jackson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Assessment Framework — Multi-Agent AI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73498" y="1297186"/>
            <a:ext cx="865436" cy="495151"/>
          </a:xfrm>
          <a:prstGeom prst="roundRect">
            <a:avLst>
              <a:gd name="adj" fmla="val 1538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00861" y="1392436"/>
            <a:ext cx="6107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400861" y="1577132"/>
            <a:ext cx="6107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Classify, extract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215134" y="1424732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62784" y="1297186"/>
            <a:ext cx="881509" cy="495151"/>
          </a:xfrm>
          <a:prstGeom prst="roundRect">
            <a:avLst>
              <a:gd name="adj" fmla="val 1538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89986" y="1392436"/>
            <a:ext cx="6271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589986" y="1577132"/>
            <a:ext cx="6271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capabilities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420493" y="1424732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8143" y="1297186"/>
            <a:ext cx="988665" cy="495151"/>
          </a:xfrm>
          <a:prstGeom prst="roundRect">
            <a:avLst>
              <a:gd name="adj" fmla="val 1538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4273" y="1392436"/>
            <a:ext cx="7364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794273" y="1577132"/>
            <a:ext cx="7364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scoring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733008" y="1424732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80658" y="1297186"/>
            <a:ext cx="889695" cy="495151"/>
          </a:xfrm>
          <a:prstGeom prst="roundRect">
            <a:avLst>
              <a:gd name="adj" fmla="val 1538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07778" y="1392436"/>
            <a:ext cx="6354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07778" y="1577132"/>
            <a:ext cx="6354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04800" y="2850803"/>
            <a:ext cx="2768650" cy="630436"/>
          </a:xfrm>
          <a:prstGeom prst="roundRect">
            <a:avLst>
              <a:gd name="adj" fmla="val 1208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8150" y="2984153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150" y="3201293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on-premises. No data to external APIs.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187750" y="2850803"/>
            <a:ext cx="2768650" cy="630436"/>
          </a:xfrm>
          <a:prstGeom prst="roundRect">
            <a:avLst>
              <a:gd name="adj" fmla="val 1208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21100" y="2984153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RAG-Powered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1100" y="3201293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for context.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070699" y="2850803"/>
            <a:ext cx="2768650" cy="630436"/>
          </a:xfrm>
          <a:prstGeom prst="roundRect">
            <a:avLst>
              <a:gd name="adj" fmla="val 1208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04049" y="2984153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Scoring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4049" y="3201293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criteria eliminates variability.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04800" y="4501604"/>
            <a:ext cx="8534400" cy="337096"/>
          </a:xfrm>
          <a:prstGeom prst="roundRect">
            <a:avLst>
              <a:gd name="adj" fmla="val 2260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4904" y="459685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CrewAI | Llama 3.1 70B | Qdrant | BGE Embeddings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Results Based on VDOT Retrospective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2142232"/>
            <a:ext cx="1581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31640" y="1988046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30434" y="2102346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87080" y="1988046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85874" y="2102346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37758" y="2128986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800" y="2705993"/>
            <a:ext cx="1581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1640" y="2551807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30434" y="2666107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4,650h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87080" y="2551807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85874" y="2666107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1,012h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37758" y="2692747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800" y="3269754"/>
            <a:ext cx="1581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31640" y="3115568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30434" y="3229868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$717K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87080" y="3115568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85874" y="3229868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$182K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37758" y="3256508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4800" y="3833515"/>
            <a:ext cx="1581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31640" y="3679329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30434" y="3793629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787080" y="3679329"/>
            <a:ext cx="1779240" cy="468511"/>
          </a:xfrm>
          <a:prstGeom prst="roundRect">
            <a:avLst>
              <a:gd name="adj" fmla="val 1219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85874" y="3793629"/>
            <a:ext cx="1581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FTE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37758" y="3820269"/>
            <a:ext cx="4857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47520" y="2185988"/>
            <a:ext cx="2491680" cy="1255216"/>
          </a:xfrm>
          <a:prstGeom prst="roundRect">
            <a:avLst>
              <a:gd name="adj" fmla="val 910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16913" y="2376488"/>
            <a:ext cx="2152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PER-ASSESSMENT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16913" y="2566988"/>
            <a:ext cx="215289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$535K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516913" y="3104108"/>
            <a:ext cx="21528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347520" y="3555504"/>
            <a:ext cx="2491680" cy="394246"/>
          </a:xfrm>
          <a:prstGeom prst="roundRect">
            <a:avLst>
              <a:gd name="adj" fmla="val 19328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48904" y="3679329"/>
            <a:ext cx="22889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10/yr = $5.35M saved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TAM, Focused Virginia Beachhead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510754"/>
            <a:ext cx="4152900" cy="1015157"/>
          </a:xfrm>
          <a:prstGeom prst="roundRect">
            <a:avLst>
              <a:gd name="adj" fmla="val 938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63154"/>
            <a:ext cx="39250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$4.7B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205546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57200" y="2240161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15K+ government agencies, 50K+ enterprises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4800" y="2640211"/>
            <a:ext cx="4152900" cy="961876"/>
          </a:xfrm>
          <a:prstGeom prst="roundRect">
            <a:avLst>
              <a:gd name="adj" fmla="val 9903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792611"/>
            <a:ext cx="39250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13164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57200" y="3316337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+ Federal + Early enterprise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3716387"/>
            <a:ext cx="4152900" cy="908596"/>
          </a:xfrm>
          <a:prstGeom prst="roundRect">
            <a:avLst>
              <a:gd name="adj" fmla="val 1048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386878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$3.75M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154537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1-2 TARGET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433923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VA (Y1) → 20 customers (Y2)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86300" y="1638449"/>
            <a:ext cx="423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6300" y="1931789"/>
            <a:ext cx="4152900" cy="573286"/>
          </a:xfrm>
          <a:prstGeom prst="roundRect">
            <a:avLst>
              <a:gd name="adj" fmla="val 1329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204608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Virginia Beachhead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24417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VDOT relationships, 87 state agencies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600325"/>
            <a:ext cx="4152900" cy="573286"/>
          </a:xfrm>
          <a:prstGeom prst="roundRect">
            <a:avLst>
              <a:gd name="adj" fmla="val 1329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271462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State Government Expansion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912715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from VA pilots to 50 states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268861"/>
            <a:ext cx="4152900" cy="573286"/>
          </a:xfrm>
          <a:prstGeom prst="roundRect">
            <a:avLst>
              <a:gd name="adj" fmla="val 1329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3383161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Federal and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581251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SAM.gov registered, minority-owned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86300" y="3937397"/>
            <a:ext cx="4152900" cy="559891"/>
          </a:xfrm>
          <a:prstGeom prst="roundRect">
            <a:avLst>
              <a:gd name="adj" fmla="val 1361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405169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00600" y="4236393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$50-100K per assessment | $25-50K/yr license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Enterprise Architecture Experience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871663"/>
            <a:ext cx="3737670" cy="1560016"/>
          </a:xfrm>
          <a:prstGeom prst="roundRect">
            <a:avLst>
              <a:gd name="adj" fmla="val 732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40260" y="2062163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37467" y="2235547"/>
            <a:ext cx="2721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1733" y="2843213"/>
            <a:ext cx="34238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Lestin P. Jackson, MBA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33" y="3094583"/>
            <a:ext cx="34238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and Founder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4800" y="3545979"/>
            <a:ext cx="484138" cy="20955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3584079"/>
            <a:ext cx="338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TOGAF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6088" y="3545979"/>
            <a:ext cx="709910" cy="20955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2288" y="3584079"/>
            <a:ext cx="5686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SA 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13148" y="3545979"/>
            <a:ext cx="455861" cy="20955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89348" y="3584079"/>
            <a:ext cx="309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126159" y="3545979"/>
            <a:ext cx="369391" cy="20955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2359" y="3584079"/>
            <a:ext cx="221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4800" y="3869829"/>
            <a:ext cx="3737670" cy="394246"/>
          </a:xfrm>
          <a:prstGeom prst="roundRect">
            <a:avLst>
              <a:gd name="adj" fmla="val 19328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8625" y="3993654"/>
            <a:ext cx="3559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Co-authored the VDOT report this platform automates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271070" y="1675507"/>
            <a:ext cx="4659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71070" y="1911697"/>
            <a:ext cx="4568130" cy="489496"/>
          </a:xfrm>
          <a:prstGeom prst="roundRect">
            <a:avLst>
              <a:gd name="adj" fmla="val 1167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85357" y="1911697"/>
            <a:ext cx="0" cy="489496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4895" y="2006947"/>
            <a:ext cx="4436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2024-25: Virginia DOT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94895" y="2172593"/>
            <a:ext cx="4436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Architect, HMMS Review co-author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71070" y="2477393"/>
            <a:ext cx="4568130" cy="489496"/>
          </a:xfrm>
          <a:prstGeom prst="roundRect">
            <a:avLst>
              <a:gd name="adj" fmla="val 116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66320" y="2572643"/>
            <a:ext cx="4465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2022-24: Hertz Corporation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366320" y="2738289"/>
            <a:ext cx="4465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 Director, Finance IT ($8B revenue)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71070" y="3043089"/>
            <a:ext cx="4568130" cy="489496"/>
          </a:xfrm>
          <a:prstGeom prst="roundRect">
            <a:avLst>
              <a:gd name="adj" fmla="val 116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66320" y="3138339"/>
            <a:ext cx="4465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2018-19: CMS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366320" y="3303984"/>
            <a:ext cx="4465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Architect, Medicare/Medicaid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71070" y="3608784"/>
            <a:ext cx="4568130" cy="489496"/>
          </a:xfrm>
          <a:prstGeom prst="roundRect">
            <a:avLst>
              <a:gd name="adj" fmla="val 116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66320" y="3704034"/>
            <a:ext cx="4465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2004-11: Virginia DSS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366320" y="3869680"/>
            <a:ext cx="4465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EA practice from scratch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271070" y="4174480"/>
            <a:ext cx="4568130" cy="285750"/>
          </a:xfrm>
          <a:prstGeom prst="roundRect">
            <a:avLst>
              <a:gd name="adj" fmla="val 2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47270" y="4250680"/>
            <a:ext cx="4504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Disney, Blue Cross, USPTO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857250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VIPC Launch Grant — $50,000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714798"/>
            <a:ext cx="4152900" cy="1293316"/>
          </a:xfrm>
          <a:prstGeom prst="roundRect">
            <a:avLst>
              <a:gd name="adj" fmla="val 73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67198"/>
            <a:ext cx="10110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VIPC Launch Grant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54338" y="1867198"/>
            <a:ext cx="5619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75718"/>
            <a:ext cx="13282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Match (In-Kind)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54338" y="2175718"/>
            <a:ext cx="5619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89002"/>
            <a:ext cx="38481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89014"/>
            <a:ext cx="9587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10707" y="2589014"/>
            <a:ext cx="810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4800" y="3122414"/>
            <a:ext cx="4152900" cy="1374874"/>
          </a:xfrm>
          <a:prstGeom prst="roundRect">
            <a:avLst>
              <a:gd name="adj" fmla="val 554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150" y="325576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38150" y="347856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Technology/Infrastructure: $15,000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38150" y="366325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 (Legal/IP): $12,000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38150" y="3847951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Tools: $8,000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38150" y="4032647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Development: $8,000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8150" y="4217343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Capital: $7,000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1795760"/>
            <a:ext cx="4152900" cy="1304479"/>
          </a:xfrm>
          <a:prstGeom prst="roundRect">
            <a:avLst>
              <a:gd name="adj" fmla="val 73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8700" y="194816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MILESTONES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38700" y="219000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Working 4-agent prototype validated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38700" y="239375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1+ Virginia agency pilot LOI signed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38700" y="2597497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Provisional patent filed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38700" y="280124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10+ customer discovery interviews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214539"/>
            <a:ext cx="4152900" cy="763637"/>
          </a:xfrm>
          <a:prstGeom prst="roundRect">
            <a:avLst>
              <a:gd name="adj" fmla="val 9979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9650" y="3347889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VIRGINIA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9650" y="3551634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Chester, VA resident | 15+ years serving VA agencies | Virginia-incorporated | HQ remains in VA 3+ years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4092476"/>
            <a:ext cx="41529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1926" y="4187726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SAM.gov UEI: QMNZA26MEVP1 | VA SCC: 07818149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Xenon Enterprise Consulting,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Xenon CAF - VIPC Launch Grant Pitch</dc:title>
  <dc:subject>AI-Driven Capability Assessment Platform</dc:subject>
  <dc:creator>Lestin P. Jackson</dc:creator>
  <cp:lastModifiedBy>Lestin P. Jackson</cp:lastModifiedBy>
  <cp:revision>1</cp:revision>
  <dcterms:created xsi:type="dcterms:W3CDTF">2026-01-31T01:49:25Z</dcterms:created>
  <dcterms:modified xsi:type="dcterms:W3CDTF">2026-01-31T01:49:25Z</dcterms:modified>
</cp:coreProperties>
</file>